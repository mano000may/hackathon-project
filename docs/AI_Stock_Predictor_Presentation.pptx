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0">
                <a:solidFill>
                  <a:srgbClr val="929AA5"/>
                </a:solidFill>
                <a:latin typeface="Arial"/>
              </a:rPr>
              <a:t>Average daily move afterwards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daily move afterwards (%)</c:v>
                </c:pt>
              </c:strCache>
            </c:strRef>
          </c:tx>
          <c:dPt>
            <c:idx val="0"/>
            <c:spPr>
              <a:solidFill>
                <a:srgbClr val="5B8CFF"/>
              </a:solidFill>
            </c:spPr>
          </c:dPt>
          <c:dPt>
            <c:idx val="1"/>
            <c:spPr>
              <a:solidFill>
                <a:srgbClr val="929AA5"/>
              </a:solidFill>
            </c:spPr>
          </c:dPt>
          <c:dPt>
            <c:idx val="2"/>
            <c:spPr>
              <a:solidFill>
                <a:srgbClr val="F4B000"/>
              </a:solidFill>
            </c:spPr>
          </c:dPt>
          <c:cat>
            <c:strRef>
              <c:f>Sheet1!$A$2:$A$4</c:f>
              <c:strCache>
                <c:ptCount val="3"/>
                <c:pt idx="0">
                  <c:v>Calm-rated</c:v>
                </c:pt>
                <c:pt idx="1">
                  <c:v>Normal-rated</c:v>
                </c:pt>
                <c:pt idx="2">
                  <c:v>Wild-rated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1.34</c:v>
                </c:pt>
                <c:pt idx="1">
                  <c:v>1.71</c:v>
                </c:pt>
                <c:pt idx="2">
                  <c:v>2.61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B3139"/>
            </a:solidFill>
          </a:ln>
        </c:spPr>
        <c:txPr>
          <a:bodyPr/>
          <a:lstStyle/>
          <a:p>
            <a:pPr>
              <a:defRPr sz="1200">
                <a:solidFill>
                  <a:srgbClr val="929AA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2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Stock Predictor: a local web app that ranks S&amp;P 500 stocks, forecasts how wild each one will be, and reports honestly how well its models did on data they never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forecasts have no reliable skill. Volatility is the part of the model with real, measurable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five steps left to right. The point to land: it all runs locally, and the data sources are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1 predicted price levels with a random forest per stock and never checked itself. The new version predicts returns and risk, and reports its own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here is free and open source. The biggest changes are the FastAPI server and the browser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ticker, the market-cap ordering, and the Risk column. Logos are cached locally and fall back to an initials 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band makes the key point visually: a predicted move of a fraction of a percent is tiny compared with the normal swing.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return model does not beat chance. The risk model does beat its baseline, modestly. Both facts are shown in the app's Model Report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with the audience: this is a learning project about building an honest forecasting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update once; later launches are fast because predictions are cached on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honesty point: the scorecard is the product as much as the predictions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mark"/>
          <p:cNvSpPr/>
          <p:nvPr/>
        </p:nvSpPr>
        <p:spPr>
          <a:xfrm>
            <a:off x="640080" y="68580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 mark line"/>
          <p:cNvSpPr/>
          <p:nvPr/>
        </p:nvSpPr>
        <p:spPr>
          <a:xfrm>
            <a:off x="777240" y="891540"/>
            <a:ext cx="457200" cy="297180"/>
          </a:xfrm>
          <a:custGeom>
            <a:avLst/>
            <a:gdLst/>
            <a:ahLst/>
            <a:cxnLst/>
            <a:rect l="l" t="t" r="r" b="b"/>
            <a:pathLst>
              <a:path w="457200" h="297180">
                <a:moveTo>
                  <a:pt x="0" y="297180"/>
                </a:moveTo>
                <a:lnTo>
                  <a:pt x="137160" y="137160"/>
                </a:lnTo>
                <a:lnTo>
                  <a:pt x="251460" y="251460"/>
                </a:lnTo>
                <a:lnTo>
                  <a:pt x="457200" y="0"/>
                </a:lnTo>
              </a:path>
            </a:pathLst>
          </a:custGeom>
          <a:noFill/>
          <a:ln w="42672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1783080"/>
            <a:ext cx="5577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Arial"/>
              </a:rPr>
              <a:t>AI Stock</a:t>
            </a:r>
          </a:p>
          <a:p>
            <a:pPr algn="l"/>
            <a:r>
              <a:rPr sz="5400" b="0">
                <a:solidFill>
                  <a:srgbClr val="FFFFFF"/>
                </a:solidFill>
                <a:latin typeface="Arial"/>
              </a:rPr>
              <a:t>Predictor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40080" y="3749039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929AA5"/>
                </a:solidFill>
                <a:latin typeface="Arial"/>
              </a:rPr>
              <a:t>Ranks the S&amp;P 500, forecasts risk, and grades its own predictions.</a:t>
            </a:r>
          </a:p>
        </p:txBody>
      </p:sp>
      <p:sp>
        <p:nvSpPr>
          <p:cNvPr id="6" name="Authors"/>
          <p:cNvSpPr txBox="1"/>
          <p:nvPr/>
        </p:nvSpPr>
        <p:spPr>
          <a:xfrm>
            <a:off x="640080" y="489204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48D9A"/>
                </a:solidFill>
                <a:latin typeface="Arial"/>
              </a:rPr>
              <a:t>By  </a:t>
            </a:r>
            <a:r>
              <a:rPr sz="1600" b="0">
                <a:solidFill>
                  <a:srgbClr val="EAECEF"/>
                </a:solidFill>
                <a:latin typeface="Arial"/>
              </a:rPr>
              <a:t>Manomay Kini · Aahil Abdul Latheef</a:t>
            </a:r>
          </a:p>
          <a:p>
            <a:pPr algn="l"/>
            <a:r>
              <a:rPr sz="1600" b="0">
                <a:solidFill>
                  <a:srgbClr val="EAECEF"/>
                </a:solidFill>
                <a:latin typeface="Arial"/>
              </a:rPr>
              <a:t>Aditya Prabhu · Arnav Gupta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9436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AECEF"/>
                </a:solidFill>
                <a:latin typeface="Arial"/>
              </a:rPr>
              <a:t>Experimental · Not financial advice</a:t>
            </a:r>
          </a:p>
        </p:txBody>
      </p:sp>
      <p:pic>
        <p:nvPicPr>
          <p:cNvPr id="8" name="Picture 7" descr="Dashboard with the S&amp;P 500 watchlist sorted by market cap, showing prices, trend lines, risk tags and predicted chan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94960" cy="3371850"/>
          </a:xfrm>
          <a:prstGeom prst="roundRect">
            <a:avLst>
              <a:gd name="adj" fmla="val 1200"/>
            </a:avLst>
          </a:prstGeom>
          <a:ln w="12700">
            <a:solidFill>
              <a:srgbClr val="2B3139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29AA5"/>
                </a:solidFill>
                <a:latin typeface="Arial"/>
              </a:rPr>
              <a:t>Three things, each scored on data the models never saw</a:t>
            </a:r>
          </a:p>
        </p:txBody>
      </p:sp>
      <p:sp>
        <p:nvSpPr>
          <p:cNvPr id="4" name="Card 1"/>
          <p:cNvSpPr/>
          <p:nvPr/>
        </p:nvSpPr>
        <p:spPr>
          <a:xfrm>
            <a:off x="640080" y="2103120"/>
            <a:ext cx="3474720" cy="3383280"/>
          </a:xfrm>
          <a:prstGeom prst="roundRect">
            <a:avLst>
              <a:gd name="adj" fmla="val 5945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1 value"/>
          <p:cNvSpPr txBox="1"/>
          <p:nvPr/>
        </p:nvSpPr>
        <p:spPr>
          <a:xfrm>
            <a:off x="960119" y="246888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onsolas"/>
              </a:rPr>
              <a:t>499</a:t>
            </a:r>
          </a:p>
        </p:txBody>
      </p:sp>
      <p:sp>
        <p:nvSpPr>
          <p:cNvPr id="6" name="Card 1 label"/>
          <p:cNvSpPr txBox="1"/>
          <p:nvPr/>
        </p:nvSpPr>
        <p:spPr>
          <a:xfrm>
            <a:off x="960119" y="32918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ECEF"/>
                </a:solidFill>
                <a:latin typeface="Arial"/>
              </a:rPr>
              <a:t>stocks ranked</a:t>
            </a:r>
          </a:p>
        </p:txBody>
      </p:sp>
      <p:sp>
        <p:nvSpPr>
          <p:cNvPr id="7" name="Card 1 text"/>
          <p:cNvSpPr txBox="1"/>
          <p:nvPr/>
        </p:nvSpPr>
        <p:spPr>
          <a:xfrm>
            <a:off x="960119" y="3977639"/>
            <a:ext cx="2834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29AA5"/>
                </a:solidFill>
                <a:latin typeface="Arial"/>
              </a:rPr>
              <a:t>Every S&amp;P 500 company, largest first, with logo, 40-day trend and a predicted 5-day return.</a:t>
            </a:r>
          </a:p>
        </p:txBody>
      </p:sp>
      <p:sp>
        <p:nvSpPr>
          <p:cNvPr id="8" name="Card 2"/>
          <p:cNvSpPr/>
          <p:nvPr/>
        </p:nvSpPr>
        <p:spPr>
          <a:xfrm>
            <a:off x="4343400" y="2103120"/>
            <a:ext cx="3474720" cy="3383280"/>
          </a:xfrm>
          <a:prstGeom prst="roundRect">
            <a:avLst>
              <a:gd name="adj" fmla="val 5945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 2 value"/>
          <p:cNvSpPr txBox="1"/>
          <p:nvPr/>
        </p:nvSpPr>
        <p:spPr>
          <a:xfrm>
            <a:off x="4663440" y="246888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onsolas"/>
              </a:rPr>
              <a:t>23.2%</a:t>
            </a:r>
          </a:p>
        </p:txBody>
      </p:sp>
      <p:sp>
        <p:nvSpPr>
          <p:cNvPr id="10" name="Card 2 label"/>
          <p:cNvSpPr txBox="1"/>
          <p:nvPr/>
        </p:nvSpPr>
        <p:spPr>
          <a:xfrm>
            <a:off x="4663440" y="32918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ECEF"/>
                </a:solidFill>
                <a:latin typeface="Arial"/>
              </a:rPr>
              <a:t>of next-week volatility explained</a:t>
            </a:r>
          </a:p>
        </p:txBody>
      </p:sp>
      <p:sp>
        <p:nvSpPr>
          <p:cNvPr id="11" name="Card 2 text"/>
          <p:cNvSpPr txBox="1"/>
          <p:nvPr/>
        </p:nvSpPr>
        <p:spPr>
          <a:xfrm>
            <a:off x="4663440" y="3977639"/>
            <a:ext cx="2834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29AA5"/>
                </a:solidFill>
                <a:latin typeface="Arial"/>
              </a:rPr>
              <a:t>A Risk Forecast rates each stock Calm, Normal or Wild. The simple 'same as lately' baseline explains 18.5%.</a:t>
            </a:r>
          </a:p>
        </p:txBody>
      </p:sp>
      <p:sp>
        <p:nvSpPr>
          <p:cNvPr id="12" name="Card 3"/>
          <p:cNvSpPr/>
          <p:nvPr/>
        </p:nvSpPr>
        <p:spPr>
          <a:xfrm>
            <a:off x="8046719" y="2103120"/>
            <a:ext cx="3474720" cy="3383280"/>
          </a:xfrm>
          <a:prstGeom prst="roundRect">
            <a:avLst>
              <a:gd name="adj" fmla="val 5945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3 value"/>
          <p:cNvSpPr txBox="1"/>
          <p:nvPr/>
        </p:nvSpPr>
        <p:spPr>
          <a:xfrm>
            <a:off x="8366759" y="246888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F4B000"/>
                </a:solidFill>
                <a:latin typeface="Consolas"/>
              </a:rPr>
              <a:t>No edge</a:t>
            </a:r>
          </a:p>
        </p:txBody>
      </p:sp>
      <p:sp>
        <p:nvSpPr>
          <p:cNvPr id="14" name="Card 3 label"/>
          <p:cNvSpPr txBox="1"/>
          <p:nvPr/>
        </p:nvSpPr>
        <p:spPr>
          <a:xfrm>
            <a:off x="8366759" y="32918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ECEF"/>
                </a:solidFill>
                <a:latin typeface="Arial"/>
              </a:rPr>
              <a:t>on predicting returns</a:t>
            </a:r>
          </a:p>
        </p:txBody>
      </p:sp>
      <p:sp>
        <p:nvSpPr>
          <p:cNvPr id="15" name="Card 3 text"/>
          <p:cNvSpPr txBox="1"/>
          <p:nvPr/>
        </p:nvSpPr>
        <p:spPr>
          <a:xfrm>
            <a:off x="8366759" y="3977639"/>
            <a:ext cx="2834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29AA5"/>
                </a:solidFill>
                <a:latin typeface="Arial"/>
              </a:rPr>
              <a:t>Direction accuracy 52.4% against 52.3% for always guessing up. The app shows this plainly.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8D9A"/>
                </a:solidFill>
                <a:latin typeface="Arial"/>
              </a:rPr>
              <a:t>AI Stock Predictor  ·  Experimental, not financial advice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48D9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29AA5"/>
                </a:solidFill>
                <a:latin typeface="Arial"/>
              </a:rPr>
              <a:t>A Python pipeline on your own computer, from raw prices to a ranked signal</a:t>
            </a:r>
          </a:p>
        </p:txBody>
      </p:sp>
      <p:sp>
        <p:nvSpPr>
          <p:cNvPr id="4" name="Step 1"/>
          <p:cNvSpPr/>
          <p:nvPr/>
        </p:nvSpPr>
        <p:spPr>
          <a:xfrm>
            <a:off x="640080" y="2103120"/>
            <a:ext cx="2011680" cy="3566160"/>
          </a:xfrm>
          <a:prstGeom prst="roundRect">
            <a:avLst>
              <a:gd name="adj" fmla="val 1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ep 1 number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6" name="Step 1 title"/>
          <p:cNvSpPr txBox="1"/>
          <p:nvPr/>
        </p:nvSpPr>
        <p:spPr>
          <a:xfrm>
            <a:off x="914400" y="30175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Ingestion</a:t>
            </a:r>
          </a:p>
        </p:txBody>
      </p:sp>
      <p:sp>
        <p:nvSpPr>
          <p:cNvPr id="7" name="Step 1 tech"/>
          <p:cNvSpPr txBox="1"/>
          <p:nvPr/>
        </p:nvSpPr>
        <p:spPr>
          <a:xfrm>
            <a:off x="914400" y="36118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8CFF"/>
                </a:solidFill>
                <a:latin typeface="Consolas"/>
              </a:rPr>
              <a:t>yfinance · FRED · Wikipedia</a:t>
            </a:r>
          </a:p>
        </p:txBody>
      </p:sp>
      <p:sp>
        <p:nvSpPr>
          <p:cNvPr id="8" name="Step 1 text"/>
          <p:cNvSpPr txBox="1"/>
          <p:nvPr/>
        </p:nvSpPr>
        <p:spPr>
          <a:xfrm>
            <a:off x="914400" y="4206240"/>
            <a:ext cx="1554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10 years of daily prices, share counts, macro series and the index list, saved as local files.</a:t>
            </a:r>
          </a:p>
        </p:txBody>
      </p:sp>
      <p:sp>
        <p:nvSpPr>
          <p:cNvPr id="9" name="Arrow"/>
          <p:cNvSpPr/>
          <p:nvPr/>
        </p:nvSpPr>
        <p:spPr>
          <a:xfrm>
            <a:off x="2688336" y="3703320"/>
            <a:ext cx="182880" cy="256032"/>
          </a:xfrm>
          <a:prstGeom prst="rightArrow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 2"/>
          <p:cNvSpPr/>
          <p:nvPr/>
        </p:nvSpPr>
        <p:spPr>
          <a:xfrm>
            <a:off x="2907792" y="2103120"/>
            <a:ext cx="2011680" cy="3566160"/>
          </a:xfrm>
          <a:prstGeom prst="roundRect">
            <a:avLst>
              <a:gd name="adj" fmla="val 1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ep 2 number"/>
          <p:cNvSpPr/>
          <p:nvPr/>
        </p:nvSpPr>
        <p:spPr>
          <a:xfrm>
            <a:off x="3182112" y="2377440"/>
            <a:ext cx="457200" cy="457200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2" name="Step 2 title"/>
          <p:cNvSpPr txBox="1"/>
          <p:nvPr/>
        </p:nvSpPr>
        <p:spPr>
          <a:xfrm>
            <a:off x="3182112" y="30175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13" name="Step 2 tech"/>
          <p:cNvSpPr txBox="1"/>
          <p:nvPr/>
        </p:nvSpPr>
        <p:spPr>
          <a:xfrm>
            <a:off x="3182112" y="36118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8CFF"/>
                </a:solidFill>
                <a:latin typeface="Consolas"/>
              </a:rPr>
              <a:t>pandas · NumPy</a:t>
            </a:r>
          </a:p>
        </p:txBody>
      </p:sp>
      <p:sp>
        <p:nvSpPr>
          <p:cNvPr id="14" name="Step 2 text"/>
          <p:cNvSpPr txBox="1"/>
          <p:nvPr/>
        </p:nvSpPr>
        <p:spPr>
          <a:xfrm>
            <a:off x="3182112" y="4206240"/>
            <a:ext cx="1554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Bad rows dropped, odd data flagged, then 20 scale-free inputs per stock per day.</a:t>
            </a:r>
          </a:p>
        </p:txBody>
      </p:sp>
      <p:sp>
        <p:nvSpPr>
          <p:cNvPr id="15" name="Arrow"/>
          <p:cNvSpPr/>
          <p:nvPr/>
        </p:nvSpPr>
        <p:spPr>
          <a:xfrm>
            <a:off x="4956048" y="3703320"/>
            <a:ext cx="182880" cy="256032"/>
          </a:xfrm>
          <a:prstGeom prst="rightArrow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ep 3"/>
          <p:cNvSpPr/>
          <p:nvPr/>
        </p:nvSpPr>
        <p:spPr>
          <a:xfrm>
            <a:off x="5175504" y="2103120"/>
            <a:ext cx="2011680" cy="3566160"/>
          </a:xfrm>
          <a:prstGeom prst="roundRect">
            <a:avLst>
              <a:gd name="adj" fmla="val 1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ep 3 number"/>
          <p:cNvSpPr/>
          <p:nvPr/>
        </p:nvSpPr>
        <p:spPr>
          <a:xfrm>
            <a:off x="5449824" y="2377440"/>
            <a:ext cx="457200" cy="457200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8" name="Step 3 title"/>
          <p:cNvSpPr txBox="1"/>
          <p:nvPr/>
        </p:nvSpPr>
        <p:spPr>
          <a:xfrm>
            <a:off x="5449824" y="30175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19" name="Step 3 tech"/>
          <p:cNvSpPr txBox="1"/>
          <p:nvPr/>
        </p:nvSpPr>
        <p:spPr>
          <a:xfrm>
            <a:off x="5449824" y="36118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8CFF"/>
                </a:solidFill>
                <a:latin typeface="Consolas"/>
              </a:rPr>
              <a:t>scikit-learn</a:t>
            </a:r>
          </a:p>
        </p:txBody>
      </p:sp>
      <p:sp>
        <p:nvSpPr>
          <p:cNvPr id="20" name="Step 3 text"/>
          <p:cNvSpPr txBox="1"/>
          <p:nvPr/>
        </p:nvSpPr>
        <p:spPr>
          <a:xfrm>
            <a:off x="5449824" y="4206240"/>
            <a:ext cx="1554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Ridge regressions: one for the next 5-day return, one for next-week volatility.</a:t>
            </a:r>
          </a:p>
        </p:txBody>
      </p:sp>
      <p:sp>
        <p:nvSpPr>
          <p:cNvPr id="21" name="Arrow"/>
          <p:cNvSpPr/>
          <p:nvPr/>
        </p:nvSpPr>
        <p:spPr>
          <a:xfrm>
            <a:off x="7223760" y="3703320"/>
            <a:ext cx="182880" cy="256032"/>
          </a:xfrm>
          <a:prstGeom prst="rightArrow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ep 4"/>
          <p:cNvSpPr/>
          <p:nvPr/>
        </p:nvSpPr>
        <p:spPr>
          <a:xfrm>
            <a:off x="7443216" y="2103120"/>
            <a:ext cx="2011680" cy="3566160"/>
          </a:xfrm>
          <a:prstGeom prst="roundRect">
            <a:avLst>
              <a:gd name="adj" fmla="val 1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ep 4 number"/>
          <p:cNvSpPr/>
          <p:nvPr/>
        </p:nvSpPr>
        <p:spPr>
          <a:xfrm>
            <a:off x="7717536" y="2377440"/>
            <a:ext cx="457200" cy="457200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4" name="Step 4 title"/>
          <p:cNvSpPr txBox="1"/>
          <p:nvPr/>
        </p:nvSpPr>
        <p:spPr>
          <a:xfrm>
            <a:off x="7717536" y="30175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Server</a:t>
            </a:r>
          </a:p>
        </p:txBody>
      </p:sp>
      <p:sp>
        <p:nvSpPr>
          <p:cNvPr id="25" name="Step 4 tech"/>
          <p:cNvSpPr txBox="1"/>
          <p:nvPr/>
        </p:nvSpPr>
        <p:spPr>
          <a:xfrm>
            <a:off x="7717536" y="36118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8CFF"/>
                </a:solidFill>
                <a:latin typeface="Consolas"/>
              </a:rPr>
              <a:t>FastAPI · Uvicorn</a:t>
            </a:r>
          </a:p>
        </p:txBody>
      </p:sp>
      <p:sp>
        <p:nvSpPr>
          <p:cNvPr id="26" name="Step 4 text"/>
          <p:cNvSpPr txBox="1"/>
          <p:nvPr/>
        </p:nvSpPr>
        <p:spPr>
          <a:xfrm>
            <a:off x="7717536" y="4206240"/>
            <a:ext cx="1554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Turns files and models into JSON on 127.0.0.1. Updates run as a background job.</a:t>
            </a:r>
          </a:p>
        </p:txBody>
      </p:sp>
      <p:sp>
        <p:nvSpPr>
          <p:cNvPr id="27" name="Arrow"/>
          <p:cNvSpPr/>
          <p:nvPr/>
        </p:nvSpPr>
        <p:spPr>
          <a:xfrm>
            <a:off x="9491472" y="3703320"/>
            <a:ext cx="182880" cy="256032"/>
          </a:xfrm>
          <a:prstGeom prst="rightArrow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ep 5"/>
          <p:cNvSpPr/>
          <p:nvPr/>
        </p:nvSpPr>
        <p:spPr>
          <a:xfrm>
            <a:off x="9710928" y="2103120"/>
            <a:ext cx="2011680" cy="3566160"/>
          </a:xfrm>
          <a:prstGeom prst="roundRect">
            <a:avLst>
              <a:gd name="adj" fmla="val 1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ep 5 number"/>
          <p:cNvSpPr/>
          <p:nvPr/>
        </p:nvSpPr>
        <p:spPr>
          <a:xfrm>
            <a:off x="9985248" y="2377440"/>
            <a:ext cx="457200" cy="457200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30" name="Step 5 title"/>
          <p:cNvSpPr txBox="1"/>
          <p:nvPr/>
        </p:nvSpPr>
        <p:spPr>
          <a:xfrm>
            <a:off x="9985248" y="30175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Interface</a:t>
            </a:r>
          </a:p>
        </p:txBody>
      </p:sp>
      <p:sp>
        <p:nvSpPr>
          <p:cNvPr id="31" name="Step 5 tech"/>
          <p:cNvSpPr txBox="1"/>
          <p:nvPr/>
        </p:nvSpPr>
        <p:spPr>
          <a:xfrm>
            <a:off x="9985248" y="36118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8CFF"/>
                </a:solidFill>
                <a:latin typeface="Consolas"/>
              </a:rPr>
              <a:t>HTML · CSS · JavaScript</a:t>
            </a:r>
          </a:p>
        </p:txBody>
      </p:sp>
      <p:sp>
        <p:nvSpPr>
          <p:cNvPr id="32" name="Step 5 text"/>
          <p:cNvSpPr txBox="1"/>
          <p:nvPr/>
        </p:nvSpPr>
        <p:spPr>
          <a:xfrm>
            <a:off x="9985248" y="4206240"/>
            <a:ext cx="1554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Watchlist, canvas charts, macro page and a model report card in the browser.</a:t>
            </a:r>
          </a:p>
        </p:txBody>
      </p:sp>
      <p:sp>
        <p:nvSpPr>
          <p:cNvPr id="33" name="Note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29AA5"/>
                </a:solidFill>
                <a:latin typeface="Arial"/>
              </a:rPr>
              <a:t>After the first download everything runs offline. Nothing is sent anywhere, and no paid service or API key is needed.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8D9A"/>
                </a:solidFill>
                <a:latin typeface="Arial"/>
              </a:rPr>
              <a:t>AI Stock Predictor  ·  Experimental, not financial advice</a:t>
            </a:r>
          </a:p>
        </p:txBody>
      </p:sp>
      <p:sp>
        <p:nvSpPr>
          <p:cNvPr id="35" name="Slide number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48D9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Arial"/>
              </a:rPr>
              <a:t>What changed since version 1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29AA5"/>
                </a:solidFill>
                <a:latin typeface="Arial"/>
              </a:rPr>
              <a:t>A desktop price guesser became a local web app that checks itself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68680" y="18288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Arial"/>
              </a:rPr>
              <a:t/>
            </a:r>
          </a:p>
        </p:txBody>
      </p:sp>
      <p:sp>
        <p:nvSpPr>
          <p:cNvPr id="5" name="Column V1"/>
          <p:cNvSpPr txBox="1"/>
          <p:nvPr/>
        </p:nvSpPr>
        <p:spPr>
          <a:xfrm>
            <a:off x="2880360" y="18288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48D9A"/>
                </a:solidFill>
                <a:latin typeface="Arial"/>
              </a:rPr>
              <a:t>VERSION 1</a:t>
            </a:r>
          </a:p>
        </p:txBody>
      </p:sp>
      <p:sp>
        <p:nvSpPr>
          <p:cNvPr id="6" name="Column now"/>
          <p:cNvSpPr txBox="1"/>
          <p:nvPr/>
        </p:nvSpPr>
        <p:spPr>
          <a:xfrm>
            <a:off x="6812280" y="1828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  <a:latin typeface="Arial"/>
              </a:rPr>
              <a:t>NOW</a:t>
            </a:r>
          </a:p>
        </p:txBody>
      </p:sp>
      <p:sp>
        <p:nvSpPr>
          <p:cNvPr id="7" name="Row Interface"/>
          <p:cNvSpPr/>
          <p:nvPr/>
        </p:nvSpPr>
        <p:spPr>
          <a:xfrm>
            <a:off x="640080" y="219456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nterface label"/>
          <p:cNvSpPr txBox="1"/>
          <p:nvPr/>
        </p:nvSpPr>
        <p:spPr>
          <a:xfrm>
            <a:off x="868680" y="21945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29AA5"/>
                </a:solidFill>
                <a:latin typeface="Arial"/>
              </a:rPr>
              <a:t>Interface</a:t>
            </a:r>
          </a:p>
        </p:txBody>
      </p:sp>
      <p:sp>
        <p:nvSpPr>
          <p:cNvPr id="9" name="Interface old"/>
          <p:cNvSpPr txBox="1"/>
          <p:nvPr/>
        </p:nvSpPr>
        <p:spPr>
          <a:xfrm>
            <a:off x="2880360" y="21945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48D9A"/>
                </a:solidFill>
                <a:latin typeface="Arial"/>
              </a:rPr>
              <a:t>Desktop app (CustomTkinter)</a:t>
            </a:r>
          </a:p>
        </p:txBody>
      </p:sp>
      <p:sp>
        <p:nvSpPr>
          <p:cNvPr id="10" name="Interface new"/>
          <p:cNvSpPr txBox="1"/>
          <p:nvPr/>
        </p:nvSpPr>
        <p:spPr>
          <a:xfrm>
            <a:off x="6812280" y="21945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Web app: FastAPI server + browser</a:t>
            </a:r>
          </a:p>
        </p:txBody>
      </p:sp>
      <p:sp>
        <p:nvSpPr>
          <p:cNvPr id="11" name="Row Coverage"/>
          <p:cNvSpPr/>
          <p:nvPr/>
        </p:nvSpPr>
        <p:spPr>
          <a:xfrm>
            <a:off x="640080" y="2834639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verage label"/>
          <p:cNvSpPr txBox="1"/>
          <p:nvPr/>
        </p:nvSpPr>
        <p:spPr>
          <a:xfrm>
            <a:off x="868680" y="2834639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29AA5"/>
                </a:solidFill>
                <a:latin typeface="Arial"/>
              </a:rPr>
              <a:t>Coverage</a:t>
            </a:r>
          </a:p>
        </p:txBody>
      </p:sp>
      <p:sp>
        <p:nvSpPr>
          <p:cNvPr id="13" name="Coverage old"/>
          <p:cNvSpPr txBox="1"/>
          <p:nvPr/>
        </p:nvSpPr>
        <p:spPr>
          <a:xfrm>
            <a:off x="2880360" y="2834639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48D9A"/>
                </a:solidFill>
                <a:latin typeface="Arial"/>
              </a:rPr>
              <a:t>50 stocks</a:t>
            </a:r>
          </a:p>
        </p:txBody>
      </p:sp>
      <p:sp>
        <p:nvSpPr>
          <p:cNvPr id="14" name="Coverage new"/>
          <p:cNvSpPr txBox="1"/>
          <p:nvPr/>
        </p:nvSpPr>
        <p:spPr>
          <a:xfrm>
            <a:off x="6812280" y="2834639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499 S&amp;P 500 stocks</a:t>
            </a:r>
          </a:p>
        </p:txBody>
      </p:sp>
      <p:sp>
        <p:nvSpPr>
          <p:cNvPr id="15" name="Row Models"/>
          <p:cNvSpPr/>
          <p:nvPr/>
        </p:nvSpPr>
        <p:spPr>
          <a:xfrm>
            <a:off x="640080" y="347472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odels label"/>
          <p:cNvSpPr txBox="1"/>
          <p:nvPr/>
        </p:nvSpPr>
        <p:spPr>
          <a:xfrm>
            <a:off x="868680" y="34747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29AA5"/>
                </a:solidFill>
                <a:latin typeface="Arial"/>
              </a:rPr>
              <a:t>Models</a:t>
            </a:r>
          </a:p>
        </p:txBody>
      </p:sp>
      <p:sp>
        <p:nvSpPr>
          <p:cNvPr id="17" name="Models old"/>
          <p:cNvSpPr txBox="1"/>
          <p:nvPr/>
        </p:nvSpPr>
        <p:spPr>
          <a:xfrm>
            <a:off x="2880360" y="3474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48D9A"/>
                </a:solidFill>
                <a:latin typeface="Arial"/>
              </a:rPr>
              <a:t>50 Random Forests, one per stock</a:t>
            </a:r>
          </a:p>
        </p:txBody>
      </p:sp>
      <p:sp>
        <p:nvSpPr>
          <p:cNvPr id="18" name="Models new"/>
          <p:cNvSpPr txBox="1"/>
          <p:nvPr/>
        </p:nvSpPr>
        <p:spPr>
          <a:xfrm>
            <a:off x="6812280" y="34747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2 pooled Ridge models (return and risk)</a:t>
            </a:r>
          </a:p>
        </p:txBody>
      </p:sp>
      <p:sp>
        <p:nvSpPr>
          <p:cNvPr id="19" name="Row Prediction"/>
          <p:cNvSpPr/>
          <p:nvPr/>
        </p:nvSpPr>
        <p:spPr>
          <a:xfrm>
            <a:off x="640080" y="411480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ediction label"/>
          <p:cNvSpPr txBox="1"/>
          <p:nvPr/>
        </p:nvSpPr>
        <p:spPr>
          <a:xfrm>
            <a:off x="868680" y="41148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29AA5"/>
                </a:solidFill>
                <a:latin typeface="Arial"/>
              </a:rPr>
              <a:t>Prediction</a:t>
            </a:r>
          </a:p>
        </p:txBody>
      </p:sp>
      <p:sp>
        <p:nvSpPr>
          <p:cNvPr id="21" name="Prediction old"/>
          <p:cNvSpPr txBox="1"/>
          <p:nvPr/>
        </p:nvSpPr>
        <p:spPr>
          <a:xfrm>
            <a:off x="2880360" y="4114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48D9A"/>
                </a:solidFill>
                <a:latin typeface="Arial"/>
              </a:rPr>
              <a:t>Next-day price level</a:t>
            </a:r>
          </a:p>
        </p:txBody>
      </p:sp>
      <p:sp>
        <p:nvSpPr>
          <p:cNvPr id="22" name="Prediction new"/>
          <p:cNvSpPr txBox="1"/>
          <p:nvPr/>
        </p:nvSpPr>
        <p:spPr>
          <a:xfrm>
            <a:off x="681228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5-day return, plus a volatility forecast</a:t>
            </a:r>
          </a:p>
        </p:txBody>
      </p:sp>
      <p:sp>
        <p:nvSpPr>
          <p:cNvPr id="23" name="Row Data"/>
          <p:cNvSpPr/>
          <p:nvPr/>
        </p:nvSpPr>
        <p:spPr>
          <a:xfrm>
            <a:off x="640080" y="4754879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 label"/>
          <p:cNvSpPr txBox="1"/>
          <p:nvPr/>
        </p:nvSpPr>
        <p:spPr>
          <a:xfrm>
            <a:off x="868680" y="4754879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29AA5"/>
                </a:solidFill>
                <a:latin typeface="Arial"/>
              </a:rPr>
              <a:t>Data</a:t>
            </a:r>
          </a:p>
        </p:txBody>
      </p:sp>
      <p:sp>
        <p:nvSpPr>
          <p:cNvPr id="25" name="Data old"/>
          <p:cNvSpPr txBox="1"/>
          <p:nvPr/>
        </p:nvSpPr>
        <p:spPr>
          <a:xfrm>
            <a:off x="2880360" y="4754879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48D9A"/>
                </a:solidFill>
                <a:latin typeface="Arial"/>
              </a:rPr>
              <a:t>yfinance prices</a:t>
            </a:r>
          </a:p>
        </p:txBody>
      </p:sp>
      <p:sp>
        <p:nvSpPr>
          <p:cNvPr id="26" name="Data new"/>
          <p:cNvSpPr txBox="1"/>
          <p:nvPr/>
        </p:nvSpPr>
        <p:spPr>
          <a:xfrm>
            <a:off x="6812280" y="4754879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yfinance + FRED macro + share counts + logos</a:t>
            </a:r>
          </a:p>
        </p:txBody>
      </p:sp>
      <p:sp>
        <p:nvSpPr>
          <p:cNvPr id="27" name="Row Honesty"/>
          <p:cNvSpPr/>
          <p:nvPr/>
        </p:nvSpPr>
        <p:spPr>
          <a:xfrm>
            <a:off x="640080" y="539496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onesty label"/>
          <p:cNvSpPr txBox="1"/>
          <p:nvPr/>
        </p:nvSpPr>
        <p:spPr>
          <a:xfrm>
            <a:off x="868680" y="53949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29AA5"/>
                </a:solidFill>
                <a:latin typeface="Arial"/>
              </a:rPr>
              <a:t>Honesty</a:t>
            </a:r>
          </a:p>
        </p:txBody>
      </p:sp>
      <p:sp>
        <p:nvSpPr>
          <p:cNvPr id="29" name="Honesty old"/>
          <p:cNvSpPr txBox="1"/>
          <p:nvPr/>
        </p:nvSpPr>
        <p:spPr>
          <a:xfrm>
            <a:off x="2880360" y="5394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48D9A"/>
                </a:solidFill>
                <a:latin typeface="Arial"/>
              </a:rPr>
              <a:t>No scoring against a baseline</a:t>
            </a:r>
          </a:p>
        </p:txBody>
      </p:sp>
      <p:sp>
        <p:nvSpPr>
          <p:cNvPr id="30" name="Honesty new"/>
          <p:cNvSpPr txBox="1"/>
          <p:nvPr/>
        </p:nvSpPr>
        <p:spPr>
          <a:xfrm>
            <a:off x="6812280" y="53949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Scored on 2 unseen years against simple baselines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8D9A"/>
                </a:solidFill>
                <a:latin typeface="Arial"/>
              </a:rPr>
              <a:t>AI Stock Predictor  ·  Experimental, not financial advice</a:t>
            </a:r>
          </a:p>
        </p:txBody>
      </p:sp>
      <p:sp>
        <p:nvSpPr>
          <p:cNvPr id="32" name="Slide number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48D9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Arial"/>
              </a:rPr>
              <a:t>Technology stack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29AA5"/>
                </a:solidFill>
                <a:latin typeface="Arial"/>
              </a:rPr>
              <a:t>Open tools only. Items marked NEW are additions since version 1</a:t>
            </a:r>
          </a:p>
        </p:txBody>
      </p:sp>
      <p:sp>
        <p:nvSpPr>
          <p:cNvPr id="4" name="Data column"/>
          <p:cNvSpPr/>
          <p:nvPr/>
        </p:nvSpPr>
        <p:spPr>
          <a:xfrm>
            <a:off x="640080" y="1828800"/>
            <a:ext cx="2606040" cy="3794760"/>
          </a:xfrm>
          <a:prstGeom prst="roundRect">
            <a:avLst>
              <a:gd name="adj" fmla="val 7719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ta heading"/>
          <p:cNvSpPr txBox="1"/>
          <p:nvPr/>
        </p:nvSpPr>
        <p:spPr>
          <a:xfrm>
            <a:off x="914400" y="20574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6" name="yfinance"/>
          <p:cNvSpPr txBox="1"/>
          <p:nvPr/>
        </p:nvSpPr>
        <p:spPr>
          <a:xfrm>
            <a:off x="914400" y="265176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yfinance</a:t>
            </a:r>
          </a:p>
        </p:txBody>
      </p:sp>
      <p:sp>
        <p:nvSpPr>
          <p:cNvPr id="7" name="yfinance note"/>
          <p:cNvSpPr txBox="1"/>
          <p:nvPr/>
        </p:nvSpPr>
        <p:spPr>
          <a:xfrm>
            <a:off x="914400" y="295351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prices, share counts</a:t>
            </a:r>
          </a:p>
        </p:txBody>
      </p:sp>
      <p:sp>
        <p:nvSpPr>
          <p:cNvPr id="8" name="FRED"/>
          <p:cNvSpPr txBox="1"/>
          <p:nvPr/>
        </p:nvSpPr>
        <p:spPr>
          <a:xfrm>
            <a:off x="914400" y="33832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FRED</a:t>
            </a:r>
          </a:p>
        </p:txBody>
      </p:sp>
      <p:sp>
        <p:nvSpPr>
          <p:cNvPr id="9" name="FRED note"/>
          <p:cNvSpPr txBox="1"/>
          <p:nvPr/>
        </p:nvSpPr>
        <p:spPr>
          <a:xfrm>
            <a:off x="914400" y="368503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rates and credit series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340156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1" name="Wikipedia"/>
          <p:cNvSpPr txBox="1"/>
          <p:nvPr/>
        </p:nvSpPr>
        <p:spPr>
          <a:xfrm>
            <a:off x="914400" y="4114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Wikipedia</a:t>
            </a:r>
          </a:p>
        </p:txBody>
      </p:sp>
      <p:sp>
        <p:nvSpPr>
          <p:cNvPr id="12" name="Wikipedia note"/>
          <p:cNvSpPr txBox="1"/>
          <p:nvPr/>
        </p:nvSpPr>
        <p:spPr>
          <a:xfrm>
            <a:off x="914400" y="441655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S&amp;P 500 list, sectors</a:t>
            </a:r>
          </a:p>
        </p:txBody>
      </p:sp>
      <p:sp>
        <p:nvSpPr>
          <p:cNvPr id="13" name="requests · lxml"/>
          <p:cNvSpPr txBox="1"/>
          <p:nvPr/>
        </p:nvSpPr>
        <p:spPr>
          <a:xfrm>
            <a:off x="914400" y="48463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requests · lxml</a:t>
            </a:r>
          </a:p>
        </p:txBody>
      </p:sp>
      <p:sp>
        <p:nvSpPr>
          <p:cNvPr id="14" name="requests · lxml note"/>
          <p:cNvSpPr txBox="1"/>
          <p:nvPr/>
        </p:nvSpPr>
        <p:spPr>
          <a:xfrm>
            <a:off x="914400" y="51480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downloads, parsing</a:t>
            </a:r>
          </a:p>
        </p:txBody>
      </p:sp>
      <p:sp>
        <p:nvSpPr>
          <p:cNvPr id="15" name="Python &amp; ML column"/>
          <p:cNvSpPr/>
          <p:nvPr/>
        </p:nvSpPr>
        <p:spPr>
          <a:xfrm>
            <a:off x="3401568" y="1828800"/>
            <a:ext cx="2606040" cy="3794760"/>
          </a:xfrm>
          <a:prstGeom prst="roundRect">
            <a:avLst>
              <a:gd name="adj" fmla="val 7719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ython &amp; ML heading"/>
          <p:cNvSpPr txBox="1"/>
          <p:nvPr/>
        </p:nvSpPr>
        <p:spPr>
          <a:xfrm>
            <a:off x="3675887" y="20574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Python &amp; ML</a:t>
            </a:r>
          </a:p>
        </p:txBody>
      </p:sp>
      <p:sp>
        <p:nvSpPr>
          <p:cNvPr id="17" name="Python 3.11"/>
          <p:cNvSpPr txBox="1"/>
          <p:nvPr/>
        </p:nvSpPr>
        <p:spPr>
          <a:xfrm>
            <a:off x="3675887" y="265176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Python 3.11</a:t>
            </a:r>
          </a:p>
        </p:txBody>
      </p:sp>
      <p:sp>
        <p:nvSpPr>
          <p:cNvPr id="18" name="Python 3.11 note"/>
          <p:cNvSpPr txBox="1"/>
          <p:nvPr/>
        </p:nvSpPr>
        <p:spPr>
          <a:xfrm>
            <a:off x="3675887" y="295351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language</a:t>
            </a:r>
          </a:p>
        </p:txBody>
      </p:sp>
      <p:sp>
        <p:nvSpPr>
          <p:cNvPr id="19" name="pandas · NumPy"/>
          <p:cNvSpPr txBox="1"/>
          <p:nvPr/>
        </p:nvSpPr>
        <p:spPr>
          <a:xfrm>
            <a:off x="3675887" y="33832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pandas · NumPy</a:t>
            </a:r>
          </a:p>
        </p:txBody>
      </p:sp>
      <p:sp>
        <p:nvSpPr>
          <p:cNvPr id="20" name="pandas · NumPy note"/>
          <p:cNvSpPr txBox="1"/>
          <p:nvPr/>
        </p:nvSpPr>
        <p:spPr>
          <a:xfrm>
            <a:off x="3675887" y="368503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data and features</a:t>
            </a:r>
          </a:p>
        </p:txBody>
      </p:sp>
      <p:sp>
        <p:nvSpPr>
          <p:cNvPr id="21" name="scikit-learn"/>
          <p:cNvSpPr txBox="1"/>
          <p:nvPr/>
        </p:nvSpPr>
        <p:spPr>
          <a:xfrm>
            <a:off x="3675887" y="4114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scikit-learn</a:t>
            </a:r>
          </a:p>
        </p:txBody>
      </p:sp>
      <p:sp>
        <p:nvSpPr>
          <p:cNvPr id="22" name="scikit-learn note"/>
          <p:cNvSpPr txBox="1"/>
          <p:nvPr/>
        </p:nvSpPr>
        <p:spPr>
          <a:xfrm>
            <a:off x="3675887" y="441655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Ridge regression</a:t>
            </a:r>
          </a:p>
        </p:txBody>
      </p:sp>
      <p:sp>
        <p:nvSpPr>
          <p:cNvPr id="23" name="joblib"/>
          <p:cNvSpPr txBox="1"/>
          <p:nvPr/>
        </p:nvSpPr>
        <p:spPr>
          <a:xfrm>
            <a:off x="3675887" y="48463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joblib</a:t>
            </a:r>
          </a:p>
        </p:txBody>
      </p:sp>
      <p:sp>
        <p:nvSpPr>
          <p:cNvPr id="24" name="joblib note"/>
          <p:cNvSpPr txBox="1"/>
          <p:nvPr/>
        </p:nvSpPr>
        <p:spPr>
          <a:xfrm>
            <a:off x="3675887" y="51480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saves trained models</a:t>
            </a:r>
          </a:p>
        </p:txBody>
      </p:sp>
      <p:sp>
        <p:nvSpPr>
          <p:cNvPr id="25" name="Server column"/>
          <p:cNvSpPr/>
          <p:nvPr/>
        </p:nvSpPr>
        <p:spPr>
          <a:xfrm>
            <a:off x="6163056" y="1828800"/>
            <a:ext cx="2606040" cy="3794760"/>
          </a:xfrm>
          <a:prstGeom prst="roundRect">
            <a:avLst>
              <a:gd name="adj" fmla="val 7719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erver heading"/>
          <p:cNvSpPr txBox="1"/>
          <p:nvPr/>
        </p:nvSpPr>
        <p:spPr>
          <a:xfrm>
            <a:off x="6437376" y="20574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Server</a:t>
            </a:r>
          </a:p>
        </p:txBody>
      </p:sp>
      <p:sp>
        <p:nvSpPr>
          <p:cNvPr id="27" name="FastAPI"/>
          <p:cNvSpPr txBox="1"/>
          <p:nvPr/>
        </p:nvSpPr>
        <p:spPr>
          <a:xfrm>
            <a:off x="6437376" y="265176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FastAPI</a:t>
            </a:r>
          </a:p>
        </p:txBody>
      </p:sp>
      <p:sp>
        <p:nvSpPr>
          <p:cNvPr id="28" name="FastAPI note"/>
          <p:cNvSpPr txBox="1"/>
          <p:nvPr/>
        </p:nvSpPr>
        <p:spPr>
          <a:xfrm>
            <a:off x="6437376" y="295351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web framework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9288" y="267004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30" name="Uvicorn"/>
          <p:cNvSpPr txBox="1"/>
          <p:nvPr/>
        </p:nvSpPr>
        <p:spPr>
          <a:xfrm>
            <a:off x="6437376" y="33832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Uvicorn</a:t>
            </a:r>
          </a:p>
        </p:txBody>
      </p:sp>
      <p:sp>
        <p:nvSpPr>
          <p:cNvPr id="31" name="Uvicorn note"/>
          <p:cNvSpPr txBox="1"/>
          <p:nvPr/>
        </p:nvSpPr>
        <p:spPr>
          <a:xfrm>
            <a:off x="6437376" y="368503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ASGI server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9288" y="340156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33" name="gzip"/>
          <p:cNvSpPr txBox="1"/>
          <p:nvPr/>
        </p:nvSpPr>
        <p:spPr>
          <a:xfrm>
            <a:off x="6437376" y="4114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gzip</a:t>
            </a:r>
          </a:p>
        </p:txBody>
      </p:sp>
      <p:sp>
        <p:nvSpPr>
          <p:cNvPr id="34" name="gzip note"/>
          <p:cNvSpPr txBox="1"/>
          <p:nvPr/>
        </p:nvSpPr>
        <p:spPr>
          <a:xfrm>
            <a:off x="6437376" y="441655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compressed responses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9288" y="4133087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36" name="127.0.0.1 only"/>
          <p:cNvSpPr txBox="1"/>
          <p:nvPr/>
        </p:nvSpPr>
        <p:spPr>
          <a:xfrm>
            <a:off x="6437376" y="48463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127.0.0.1 only</a:t>
            </a:r>
          </a:p>
        </p:txBody>
      </p:sp>
      <p:sp>
        <p:nvSpPr>
          <p:cNvPr id="37" name="127.0.0.1 only note"/>
          <p:cNvSpPr txBox="1"/>
          <p:nvPr/>
        </p:nvSpPr>
        <p:spPr>
          <a:xfrm>
            <a:off x="6437376" y="51480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never exposed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9288" y="486460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39" name="Interface column"/>
          <p:cNvSpPr/>
          <p:nvPr/>
        </p:nvSpPr>
        <p:spPr>
          <a:xfrm>
            <a:off x="8924544" y="1828800"/>
            <a:ext cx="2606040" cy="3794760"/>
          </a:xfrm>
          <a:prstGeom prst="roundRect">
            <a:avLst>
              <a:gd name="adj" fmla="val 7719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nterface heading"/>
          <p:cNvSpPr txBox="1"/>
          <p:nvPr/>
        </p:nvSpPr>
        <p:spPr>
          <a:xfrm>
            <a:off x="9198864" y="20574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Interface</a:t>
            </a:r>
          </a:p>
        </p:txBody>
      </p:sp>
      <p:sp>
        <p:nvSpPr>
          <p:cNvPr id="41" name="HTML · CSS · JS"/>
          <p:cNvSpPr txBox="1"/>
          <p:nvPr/>
        </p:nvSpPr>
        <p:spPr>
          <a:xfrm>
            <a:off x="9198864" y="265176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HTML · CSS · JS</a:t>
            </a:r>
          </a:p>
        </p:txBody>
      </p:sp>
      <p:sp>
        <p:nvSpPr>
          <p:cNvPr id="42" name="HTML · CSS · JS note"/>
          <p:cNvSpPr txBox="1"/>
          <p:nvPr/>
        </p:nvSpPr>
        <p:spPr>
          <a:xfrm>
            <a:off x="9198864" y="295351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no framework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80776" y="267004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44" name="Canvas + SVG"/>
          <p:cNvSpPr txBox="1"/>
          <p:nvPr/>
        </p:nvSpPr>
        <p:spPr>
          <a:xfrm>
            <a:off x="9198864" y="33832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Canvas + SVG</a:t>
            </a:r>
          </a:p>
        </p:txBody>
      </p:sp>
      <p:sp>
        <p:nvSpPr>
          <p:cNvPr id="45" name="Canvas + SVG note"/>
          <p:cNvSpPr txBox="1"/>
          <p:nvPr/>
        </p:nvSpPr>
        <p:spPr>
          <a:xfrm>
            <a:off x="9198864" y="368503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charts, sparklines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80776" y="340156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47" name="Inter fonts"/>
          <p:cNvSpPr txBox="1"/>
          <p:nvPr/>
        </p:nvSpPr>
        <p:spPr>
          <a:xfrm>
            <a:off x="9198864" y="4114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Inter fonts</a:t>
            </a:r>
          </a:p>
        </p:txBody>
      </p:sp>
      <p:sp>
        <p:nvSpPr>
          <p:cNvPr id="48" name="Inter fonts note"/>
          <p:cNvSpPr txBox="1"/>
          <p:nvPr/>
        </p:nvSpPr>
        <p:spPr>
          <a:xfrm>
            <a:off x="9198864" y="441655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Inter, JetBrains Mono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780776" y="4133087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50" name="Intl API"/>
          <p:cNvSpPr txBox="1"/>
          <p:nvPr/>
        </p:nvSpPr>
        <p:spPr>
          <a:xfrm>
            <a:off x="9198864" y="48463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ECEF"/>
                </a:solidFill>
                <a:latin typeface="Arial"/>
              </a:rPr>
              <a:t>Intl API</a:t>
            </a:r>
          </a:p>
        </p:txBody>
      </p:sp>
      <p:sp>
        <p:nvSpPr>
          <p:cNvPr id="51" name="Intl API note"/>
          <p:cNvSpPr txBox="1"/>
          <p:nvPr/>
        </p:nvSpPr>
        <p:spPr>
          <a:xfrm>
            <a:off x="9198864" y="51480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numbers, dates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80776" y="486460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53" name="Retired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48D9A"/>
                </a:solidFill>
                <a:latin typeface="Arial"/>
              </a:rPr>
              <a:t>Retired: </a:t>
            </a:r>
            <a:r>
              <a:rPr sz="1300" b="0">
                <a:solidFill>
                  <a:srgbClr val="929AA5"/>
                </a:solidFill>
                <a:latin typeface="Arial"/>
              </a:rPr>
              <a:t>Random Forest · CustomTkinter · mplfinance · Matplotlib · Pillow</a:t>
            </a:r>
          </a:p>
        </p:txBody>
      </p:sp>
      <p:sp>
        <p:nvSpPr>
          <p:cNvPr id="54" name="Footer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8D9A"/>
                </a:solidFill>
                <a:latin typeface="Arial"/>
              </a:rPr>
              <a:t>AI Stock Predictor  ·  Experimental, not financial advice</a:t>
            </a:r>
          </a:p>
        </p:txBody>
      </p:sp>
      <p:sp>
        <p:nvSpPr>
          <p:cNvPr id="55" name="Slide number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48D9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Arial"/>
              </a:rPr>
              <a:t>Dashboard overview</a:t>
            </a:r>
          </a:p>
        </p:txBody>
      </p:sp>
      <p:pic>
        <p:nvPicPr>
          <p:cNvPr id="3" name="Picture 2" descr="Markets dashboard: ticker tape, summary tiles, search and filters, and a watchlist sorted by market cap with risk ta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680960" cy="4800600"/>
          </a:xfrm>
          <a:prstGeom prst="roundRect">
            <a:avLst>
              <a:gd name="adj" fmla="val 1200"/>
            </a:avLst>
          </a:prstGeom>
          <a:ln w="12700">
            <a:solidFill>
              <a:srgbClr val="2B3139"/>
            </a:solidFill>
          </a:ln>
        </p:spPr>
      </p:pic>
      <p:sp>
        <p:nvSpPr>
          <p:cNvPr id="4" name="Callout 1"/>
          <p:cNvSpPr/>
          <p:nvPr/>
        </p:nvSpPr>
        <p:spPr>
          <a:xfrm>
            <a:off x="8595360" y="1417320"/>
            <a:ext cx="2971800" cy="1463040"/>
          </a:xfrm>
          <a:prstGeom prst="roundRect">
            <a:avLst>
              <a:gd name="adj" fmla="val 13749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 1 title"/>
          <p:cNvSpPr txBox="1"/>
          <p:nvPr/>
        </p:nvSpPr>
        <p:spPr>
          <a:xfrm>
            <a:off x="8823960" y="16002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Largest first</a:t>
            </a:r>
          </a:p>
        </p:txBody>
      </p:sp>
      <p:sp>
        <p:nvSpPr>
          <p:cNvPr id="6" name="Callout 1 text"/>
          <p:cNvSpPr txBox="1"/>
          <p:nvPr/>
        </p:nvSpPr>
        <p:spPr>
          <a:xfrm>
            <a:off x="8823960" y="1984248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The watchlist opens sorted by market cap. Click any column header to re-sort.</a:t>
            </a:r>
          </a:p>
        </p:txBody>
      </p:sp>
      <p:sp>
        <p:nvSpPr>
          <p:cNvPr id="7" name="Callout 2"/>
          <p:cNvSpPr/>
          <p:nvPr/>
        </p:nvSpPr>
        <p:spPr>
          <a:xfrm>
            <a:off x="8595360" y="3017520"/>
            <a:ext cx="2971800" cy="1463040"/>
          </a:xfrm>
          <a:prstGeom prst="roundRect">
            <a:avLst>
              <a:gd name="adj" fmla="val 13749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llout 2 title"/>
          <p:cNvSpPr txBox="1"/>
          <p:nvPr/>
        </p:nvSpPr>
        <p:spPr>
          <a:xfrm>
            <a:off x="8823960" y="32004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Risk tag</a:t>
            </a:r>
          </a:p>
        </p:txBody>
      </p:sp>
      <p:sp>
        <p:nvSpPr>
          <p:cNvPr id="9" name="Callout 2 text"/>
          <p:cNvSpPr txBox="1"/>
          <p:nvPr/>
        </p:nvSpPr>
        <p:spPr>
          <a:xfrm>
            <a:off x="8823960" y="3584448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Calm, Normal or Wild with the typical 5-day swing, forecast by the volatility model.</a:t>
            </a:r>
          </a:p>
        </p:txBody>
      </p:sp>
      <p:sp>
        <p:nvSpPr>
          <p:cNvPr id="10" name="Callout 3"/>
          <p:cNvSpPr/>
          <p:nvPr/>
        </p:nvSpPr>
        <p:spPr>
          <a:xfrm>
            <a:off x="8595360" y="4617720"/>
            <a:ext cx="2971800" cy="1463040"/>
          </a:xfrm>
          <a:prstGeom prst="roundRect">
            <a:avLst>
              <a:gd name="adj" fmla="val 13749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llout 3 title"/>
          <p:cNvSpPr txBox="1"/>
          <p:nvPr/>
        </p:nvSpPr>
        <p:spPr>
          <a:xfrm>
            <a:off x="8823960" y="48006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Prediction</a:t>
            </a:r>
          </a:p>
        </p:txBody>
      </p:sp>
      <p:sp>
        <p:nvSpPr>
          <p:cNvPr id="12" name="Callout 3 text"/>
          <p:cNvSpPr txBox="1"/>
          <p:nvPr/>
        </p:nvSpPr>
        <p:spPr>
          <a:xfrm>
            <a:off x="8823960" y="5184648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Predicted price, predicted change and rank. Treat the rank as a hint, not a signal.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8D9A"/>
                </a:solidFill>
                <a:latin typeface="Arial"/>
              </a:rPr>
              <a:t>AI Stock Predictor  ·  Experimental, not financial advice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48D9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Arial"/>
              </a:rPr>
              <a:t>Stock page</a:t>
            </a:r>
          </a:p>
        </p:txBody>
      </p:sp>
      <p:pic>
        <p:nvPicPr>
          <p:cNvPr id="3" name="Picture 2" descr="NVIDIA stock page with a candlestick chart, predicted price line, typical swing band and prediction 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680960" cy="4800600"/>
          </a:xfrm>
          <a:prstGeom prst="roundRect">
            <a:avLst>
              <a:gd name="adj" fmla="val 1200"/>
            </a:avLst>
          </a:prstGeom>
          <a:ln w="12700">
            <a:solidFill>
              <a:srgbClr val="2B3139"/>
            </a:solidFill>
          </a:ln>
        </p:spPr>
      </p:pic>
      <p:sp>
        <p:nvSpPr>
          <p:cNvPr id="4" name="Callout 1"/>
          <p:cNvSpPr/>
          <p:nvPr/>
        </p:nvSpPr>
        <p:spPr>
          <a:xfrm>
            <a:off x="8595360" y="1417320"/>
            <a:ext cx="2971800" cy="1463040"/>
          </a:xfrm>
          <a:prstGeom prst="roundRect">
            <a:avLst>
              <a:gd name="adj" fmla="val 13749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 1 title"/>
          <p:cNvSpPr txBox="1"/>
          <p:nvPr/>
        </p:nvSpPr>
        <p:spPr>
          <a:xfrm>
            <a:off x="8823960" y="16002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Honest uncertainty</a:t>
            </a:r>
          </a:p>
        </p:txBody>
      </p:sp>
      <p:sp>
        <p:nvSpPr>
          <p:cNvPr id="6" name="Callout 1 text"/>
          <p:cNvSpPr txBox="1"/>
          <p:nvPr/>
        </p:nvSpPr>
        <p:spPr>
          <a:xfrm>
            <a:off x="8823960" y="1984248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The shaded band is the typical 5-day swing. The predicted price sits well inside it.</a:t>
            </a:r>
          </a:p>
        </p:txBody>
      </p:sp>
      <p:sp>
        <p:nvSpPr>
          <p:cNvPr id="7" name="Callout 2"/>
          <p:cNvSpPr/>
          <p:nvPr/>
        </p:nvSpPr>
        <p:spPr>
          <a:xfrm>
            <a:off x="8595360" y="3017520"/>
            <a:ext cx="2971800" cy="1463040"/>
          </a:xfrm>
          <a:prstGeom prst="roundRect">
            <a:avLst>
              <a:gd name="adj" fmla="val 13749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llout 2 title"/>
          <p:cNvSpPr txBox="1"/>
          <p:nvPr/>
        </p:nvSpPr>
        <p:spPr>
          <a:xfrm>
            <a:off x="8823960" y="32004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Chart</a:t>
            </a:r>
          </a:p>
        </p:txBody>
      </p:sp>
      <p:sp>
        <p:nvSpPr>
          <p:cNvPr id="9" name="Callout 2 text"/>
          <p:cNvSpPr txBox="1"/>
          <p:nvPr/>
        </p:nvSpPr>
        <p:spPr>
          <a:xfrm>
            <a:off x="8823960" y="3584448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Candlesticks, volume and two moving averages. Hover or use the arrow keys for prices.</a:t>
            </a:r>
          </a:p>
        </p:txBody>
      </p:sp>
      <p:sp>
        <p:nvSpPr>
          <p:cNvPr id="10" name="Callout 3"/>
          <p:cNvSpPr/>
          <p:nvPr/>
        </p:nvSpPr>
        <p:spPr>
          <a:xfrm>
            <a:off x="8595360" y="4617720"/>
            <a:ext cx="2971800" cy="1463040"/>
          </a:xfrm>
          <a:prstGeom prst="roundRect">
            <a:avLst>
              <a:gd name="adj" fmla="val 13749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llout 3 title"/>
          <p:cNvSpPr txBox="1"/>
          <p:nvPr/>
        </p:nvSpPr>
        <p:spPr>
          <a:xfrm>
            <a:off x="8823960" y="48006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Key stats</a:t>
            </a:r>
          </a:p>
        </p:txBody>
      </p:sp>
      <p:sp>
        <p:nvSpPr>
          <p:cNvPr id="12" name="Callout 3 text"/>
          <p:cNvSpPr txBox="1"/>
          <p:nvPr/>
        </p:nvSpPr>
        <p:spPr>
          <a:xfrm>
            <a:off x="8823960" y="5184648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Market cap, sector and the 52-week range with a position marker.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8D9A"/>
                </a:solidFill>
                <a:latin typeface="Arial"/>
              </a:rPr>
              <a:t>AI Stock Predictor  ·  Experimental, not financial advice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48D9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Arial"/>
              </a:rPr>
              <a:t>Results, reported honestly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29AA5"/>
                </a:solidFill>
                <a:latin typeface="Arial"/>
              </a:rPr>
              <a:t>Scored on 101 weeks and 250,356 predictions the models never trained on</a:t>
            </a:r>
          </a:p>
        </p:txBody>
      </p:sp>
      <p:sp>
        <p:nvSpPr>
          <p:cNvPr id="4" name="Return card"/>
          <p:cNvSpPr/>
          <p:nvPr/>
        </p:nvSpPr>
        <p:spPr>
          <a:xfrm>
            <a:off x="640080" y="1828800"/>
            <a:ext cx="5394960" cy="4297680"/>
          </a:xfrm>
          <a:prstGeom prst="roundRect">
            <a:avLst>
              <a:gd name="adj" fmla="val 468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21031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EAECEF"/>
                </a:solidFill>
                <a:latin typeface="Arial"/>
              </a:rPr>
              <a:t>RETURN FORECAST</a:t>
            </a:r>
          </a:p>
        </p:txBody>
      </p:sp>
      <p:sp>
        <p:nvSpPr>
          <p:cNvPr id="6" name="Return verdict"/>
          <p:cNvSpPr txBox="1"/>
          <p:nvPr/>
        </p:nvSpPr>
        <p:spPr>
          <a:xfrm>
            <a:off x="960120" y="25603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4B000"/>
                </a:solidFill>
                <a:latin typeface="Arial"/>
              </a:rPr>
              <a:t>No reliable signal</a:t>
            </a:r>
          </a:p>
        </p:txBody>
      </p:sp>
      <p:sp>
        <p:nvSpPr>
          <p:cNvPr id="7" name="Return stat 1"/>
          <p:cNvSpPr txBox="1"/>
          <p:nvPr/>
        </p:nvSpPr>
        <p:spPr>
          <a:xfrm>
            <a:off x="960120" y="33375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onsolas"/>
              </a:rPr>
              <a:t>52.4% vs 52.3%</a:t>
            </a:r>
          </a:p>
        </p:txBody>
      </p:sp>
      <p:sp>
        <p:nvSpPr>
          <p:cNvPr id="8" name="Return stat 1 label"/>
          <p:cNvSpPr txBox="1"/>
          <p:nvPr/>
        </p:nvSpPr>
        <p:spPr>
          <a:xfrm>
            <a:off x="960120" y="37490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Direction right, against always guessing up</a:t>
            </a:r>
          </a:p>
        </p:txBody>
      </p:sp>
      <p:sp>
        <p:nvSpPr>
          <p:cNvPr id="9" name="Return stat 2"/>
          <p:cNvSpPr txBox="1"/>
          <p:nvPr/>
        </p:nvSpPr>
        <p:spPr>
          <a:xfrm>
            <a:off x="960120" y="42519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onsolas"/>
              </a:rPr>
              <a:t>t = 0.01</a:t>
            </a:r>
          </a:p>
        </p:txBody>
      </p:sp>
      <p:sp>
        <p:nvSpPr>
          <p:cNvPr id="10" name="Return stat 2 label"/>
          <p:cNvSpPr txBox="1"/>
          <p:nvPr/>
        </p:nvSpPr>
        <p:spPr>
          <a:xfrm>
            <a:off x="960120" y="4663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Best fifth minus worst fifth each week. Needs above 2</a:t>
            </a:r>
          </a:p>
        </p:txBody>
      </p:sp>
      <p:sp>
        <p:nvSpPr>
          <p:cNvPr id="11" name="Return stat 3"/>
          <p:cNvSpPr txBox="1"/>
          <p:nvPr/>
        </p:nvSpPr>
        <p:spPr>
          <a:xfrm>
            <a:off x="960120" y="5166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onsolas"/>
              </a:rPr>
              <a:t>50.6%</a:t>
            </a:r>
          </a:p>
        </p:txBody>
      </p:sp>
      <p:sp>
        <p:nvSpPr>
          <p:cNvPr id="12" name="Return stat 3 label"/>
          <p:cNvSpPr txBox="1"/>
          <p:nvPr/>
        </p:nvSpPr>
        <p:spPr>
          <a:xfrm>
            <a:off x="960120" y="5577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Top-ranked fifth beating the median stock. Chance is 50%</a:t>
            </a:r>
          </a:p>
        </p:txBody>
      </p:sp>
      <p:sp>
        <p:nvSpPr>
          <p:cNvPr id="13" name="Risk card"/>
          <p:cNvSpPr/>
          <p:nvPr/>
        </p:nvSpPr>
        <p:spPr>
          <a:xfrm>
            <a:off x="6263640" y="1828800"/>
            <a:ext cx="5303520" cy="4297680"/>
          </a:xfrm>
          <a:prstGeom prst="roundRect">
            <a:avLst>
              <a:gd name="adj" fmla="val 468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210312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EAECEF"/>
                </a:solidFill>
                <a:latin typeface="Arial"/>
              </a:rPr>
              <a:t>RISK FORECAST</a:t>
            </a:r>
          </a:p>
        </p:txBody>
      </p:sp>
      <p:sp>
        <p:nvSpPr>
          <p:cNvPr id="15" name="Risk verdict"/>
          <p:cNvSpPr txBox="1"/>
          <p:nvPr/>
        </p:nvSpPr>
        <p:spPr>
          <a:xfrm>
            <a:off x="6583680" y="25603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ECB81"/>
                </a:solidFill>
                <a:latin typeface="Arial"/>
              </a:rPr>
              <a:t>Real, measurable skill</a:t>
            </a:r>
          </a:p>
        </p:txBody>
      </p:sp>
      <p:graphicFrame>
        <p:nvGraphicFramePr>
          <p:cNvPr id="16" name="Calm vs wild chart"/>
          <p:cNvGraphicFramePr>
            <a:graphicFrameLocks noGrp="1"/>
          </p:cNvGraphicFramePr>
          <p:nvPr/>
        </p:nvGraphicFramePr>
        <p:xfrm>
          <a:off x="6492240" y="3200400"/>
          <a:ext cx="484632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Risk note"/>
          <p:cNvSpPr txBox="1"/>
          <p:nvPr/>
        </p:nvSpPr>
        <p:spPr>
          <a:xfrm>
            <a:off x="6583680" y="544068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9AA5"/>
                </a:solidFill>
                <a:latin typeface="Arial"/>
              </a:rPr>
              <a:t>Explains 23.2% of next-week volatility vs 18.5% for 'same as lately'. Most of this is volatility persisting; the model adds a measurable gain.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8D9A"/>
                </a:solidFill>
                <a:latin typeface="Arial"/>
              </a:rPr>
              <a:t>AI Stock Predictor  ·  Experimental, not financial advice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48D9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Arial"/>
              </a:rPr>
              <a:t>Limits and responsible use</a:t>
            </a:r>
          </a:p>
        </p:txBody>
      </p:sp>
      <p:sp>
        <p:nvSpPr>
          <p:cNvPr id="3" name="Limit 1"/>
          <p:cNvSpPr/>
          <p:nvPr/>
        </p:nvSpPr>
        <p:spPr>
          <a:xfrm>
            <a:off x="640080" y="1600200"/>
            <a:ext cx="3474720" cy="2194560"/>
          </a:xfrm>
          <a:prstGeom prst="roundRect">
            <a:avLst>
              <a:gd name="adj" fmla="val 91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mit 1 title"/>
          <p:cNvSpPr txBox="1"/>
          <p:nvPr/>
        </p:nvSpPr>
        <p:spPr>
          <a:xfrm>
            <a:off x="914400" y="18562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Not financial advice</a:t>
            </a:r>
          </a:p>
        </p:txBody>
      </p:sp>
      <p:sp>
        <p:nvSpPr>
          <p:cNvPr id="5" name="Limit 1 text"/>
          <p:cNvSpPr txBox="1"/>
          <p:nvPr/>
        </p:nvSpPr>
        <p:spPr>
          <a:xfrm>
            <a:off x="914400" y="2377440"/>
            <a:ext cx="29260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Educational tool. It does not place trades and should never be the basis for an investment decision.</a:t>
            </a:r>
          </a:p>
        </p:txBody>
      </p:sp>
      <p:sp>
        <p:nvSpPr>
          <p:cNvPr id="6" name="Limit 2"/>
          <p:cNvSpPr/>
          <p:nvPr/>
        </p:nvSpPr>
        <p:spPr>
          <a:xfrm>
            <a:off x="4343400" y="1600200"/>
            <a:ext cx="3474720" cy="2194560"/>
          </a:xfrm>
          <a:prstGeom prst="roundRect">
            <a:avLst>
              <a:gd name="adj" fmla="val 91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mit 2 title"/>
          <p:cNvSpPr txBox="1"/>
          <p:nvPr/>
        </p:nvSpPr>
        <p:spPr>
          <a:xfrm>
            <a:off x="4617720" y="18562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Returns are mostly noise</a:t>
            </a:r>
          </a:p>
        </p:txBody>
      </p:sp>
      <p:sp>
        <p:nvSpPr>
          <p:cNvPr id="8" name="Limit 2 text"/>
          <p:cNvSpPr txBox="1"/>
          <p:nvPr/>
        </p:nvSpPr>
        <p:spPr>
          <a:xfrm>
            <a:off x="4617720" y="2377440"/>
            <a:ext cx="29260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A 5-day return forecast cannot beat guessing here, so read the rank as a ranking, not a prediction.</a:t>
            </a:r>
          </a:p>
        </p:txBody>
      </p:sp>
      <p:sp>
        <p:nvSpPr>
          <p:cNvPr id="9" name="Limit 3"/>
          <p:cNvSpPr/>
          <p:nvPr/>
        </p:nvSpPr>
        <p:spPr>
          <a:xfrm>
            <a:off x="8046719" y="1600200"/>
            <a:ext cx="3474720" cy="2194560"/>
          </a:xfrm>
          <a:prstGeom prst="roundRect">
            <a:avLst>
              <a:gd name="adj" fmla="val 91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mit 3 title"/>
          <p:cNvSpPr txBox="1"/>
          <p:nvPr/>
        </p:nvSpPr>
        <p:spPr>
          <a:xfrm>
            <a:off x="8321040" y="18562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Risk is not direction</a:t>
            </a:r>
          </a:p>
        </p:txBody>
      </p:sp>
      <p:sp>
        <p:nvSpPr>
          <p:cNvPr id="11" name="Limit 3 text"/>
          <p:cNvSpPr txBox="1"/>
          <p:nvPr/>
        </p:nvSpPr>
        <p:spPr>
          <a:xfrm>
            <a:off x="8321040" y="2377440"/>
            <a:ext cx="29260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A Wild rating means big moves either way. It says nothing about up or down.</a:t>
            </a:r>
          </a:p>
        </p:txBody>
      </p:sp>
      <p:sp>
        <p:nvSpPr>
          <p:cNvPr id="12" name="Limit 4"/>
          <p:cNvSpPr/>
          <p:nvPr/>
        </p:nvSpPr>
        <p:spPr>
          <a:xfrm>
            <a:off x="640080" y="3977639"/>
            <a:ext cx="3474720" cy="2194560"/>
          </a:xfrm>
          <a:prstGeom prst="roundRect">
            <a:avLst>
              <a:gd name="adj" fmla="val 91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mit 4 title"/>
          <p:cNvSpPr txBox="1"/>
          <p:nvPr/>
        </p:nvSpPr>
        <p:spPr>
          <a:xfrm>
            <a:off x="914400" y="423367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Free data has limits</a:t>
            </a:r>
          </a:p>
        </p:txBody>
      </p:sp>
      <p:sp>
        <p:nvSpPr>
          <p:cNvPr id="14" name="Limit 4 text"/>
          <p:cNvSpPr txBox="1"/>
          <p:nvPr/>
        </p:nvSpPr>
        <p:spPr>
          <a:xfrm>
            <a:off x="914400" y="4754879"/>
            <a:ext cx="29260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Prices come from Yahoo Finance and macro data from FRED. They can be delayed, revised or wrong.</a:t>
            </a:r>
          </a:p>
        </p:txBody>
      </p:sp>
      <p:sp>
        <p:nvSpPr>
          <p:cNvPr id="15" name="Limit 5"/>
          <p:cNvSpPr/>
          <p:nvPr/>
        </p:nvSpPr>
        <p:spPr>
          <a:xfrm>
            <a:off x="4343400" y="3977639"/>
            <a:ext cx="3474720" cy="2194560"/>
          </a:xfrm>
          <a:prstGeom prst="roundRect">
            <a:avLst>
              <a:gd name="adj" fmla="val 91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mit 5 title"/>
          <p:cNvSpPr txBox="1"/>
          <p:nvPr/>
        </p:nvSpPr>
        <p:spPr>
          <a:xfrm>
            <a:off x="4617720" y="423367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What it ignores</a:t>
            </a:r>
          </a:p>
        </p:txBody>
      </p:sp>
      <p:sp>
        <p:nvSpPr>
          <p:cNvPr id="17" name="Limit 5 text"/>
          <p:cNvSpPr txBox="1"/>
          <p:nvPr/>
        </p:nvSpPr>
        <p:spPr>
          <a:xfrm>
            <a:off x="4617720" y="4754879"/>
            <a:ext cx="29260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News, earnings, fundamentals, sentiment, trading costs and liquidity are not in the models.</a:t>
            </a:r>
          </a:p>
        </p:txBody>
      </p:sp>
      <p:sp>
        <p:nvSpPr>
          <p:cNvPr id="18" name="Limit 6"/>
          <p:cNvSpPr/>
          <p:nvPr/>
        </p:nvSpPr>
        <p:spPr>
          <a:xfrm>
            <a:off x="8046719" y="3977639"/>
            <a:ext cx="3474720" cy="2194560"/>
          </a:xfrm>
          <a:prstGeom prst="roundRect">
            <a:avLst>
              <a:gd name="adj" fmla="val 91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mit 6 title"/>
          <p:cNvSpPr txBox="1"/>
          <p:nvPr/>
        </p:nvSpPr>
        <p:spPr>
          <a:xfrm>
            <a:off x="8321040" y="423367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5B8CFF"/>
                </a:solidFill>
                <a:latin typeface="Arial"/>
              </a:rPr>
              <a:t>Next steps</a:t>
            </a:r>
          </a:p>
        </p:txBody>
      </p:sp>
      <p:sp>
        <p:nvSpPr>
          <p:cNvPr id="20" name="Limit 6 text"/>
          <p:cNvSpPr txBox="1"/>
          <p:nvPr/>
        </p:nvSpPr>
        <p:spPr>
          <a:xfrm>
            <a:off x="8321040" y="4754879"/>
            <a:ext cx="29260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Test earnings and fundamentals data, add news sentiment, and measure results after costs.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8D9A"/>
                </a:solidFill>
                <a:latin typeface="Arial"/>
              </a:rPr>
              <a:t>AI Stock Predictor  ·  Experimental, not financial advice</a:t>
            </a:r>
          </a:p>
        </p:txBody>
      </p:sp>
      <p:sp>
        <p:nvSpPr>
          <p:cNvPr id="22" name="Slide number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48D9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Arial"/>
              </a:rPr>
              <a:t>How to run</a:t>
            </a:r>
          </a:p>
        </p:txBody>
      </p:sp>
      <p:sp>
        <p:nvSpPr>
          <p:cNvPr id="3" name="Steps card"/>
          <p:cNvSpPr/>
          <p:nvPr/>
        </p:nvSpPr>
        <p:spPr>
          <a:xfrm>
            <a:off x="640080" y="1554480"/>
            <a:ext cx="5669280" cy="4480560"/>
          </a:xfrm>
          <a:prstGeom prst="roundRect">
            <a:avLst>
              <a:gd name="adj" fmla="val 4489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ep 1 number"/>
          <p:cNvSpPr/>
          <p:nvPr/>
        </p:nvSpPr>
        <p:spPr>
          <a:xfrm>
            <a:off x="914400" y="1847088"/>
            <a:ext cx="420624" cy="420624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5" name="Step 1 title"/>
          <p:cNvSpPr txBox="1"/>
          <p:nvPr/>
        </p:nvSpPr>
        <p:spPr>
          <a:xfrm>
            <a:off x="1554480" y="18288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Install</a:t>
            </a:r>
          </a:p>
        </p:txBody>
      </p:sp>
      <p:sp>
        <p:nvSpPr>
          <p:cNvPr id="6" name="Step 1 text"/>
          <p:cNvSpPr txBox="1"/>
          <p:nvPr/>
        </p:nvSpPr>
        <p:spPr>
          <a:xfrm>
            <a:off x="1554480" y="221284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pip install -r requirements.txt</a:t>
            </a:r>
          </a:p>
        </p:txBody>
      </p:sp>
      <p:sp>
        <p:nvSpPr>
          <p:cNvPr id="7" name="Step 2 number"/>
          <p:cNvSpPr/>
          <p:nvPr/>
        </p:nvSpPr>
        <p:spPr>
          <a:xfrm>
            <a:off x="914400" y="2871216"/>
            <a:ext cx="420624" cy="420624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8" name="Step 2 title"/>
          <p:cNvSpPr txBox="1"/>
          <p:nvPr/>
        </p:nvSpPr>
        <p:spPr>
          <a:xfrm>
            <a:off x="1554480" y="285292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Start the server</a:t>
            </a:r>
          </a:p>
        </p:txBody>
      </p:sp>
      <p:sp>
        <p:nvSpPr>
          <p:cNvPr id="9" name="Step 2 text"/>
          <p:cNvSpPr txBox="1"/>
          <p:nvPr/>
        </p:nvSpPr>
        <p:spPr>
          <a:xfrm>
            <a:off x="1554480" y="3236976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python server.py</a:t>
            </a:r>
          </a:p>
        </p:txBody>
      </p:sp>
      <p:sp>
        <p:nvSpPr>
          <p:cNvPr id="10" name="Step 3 number"/>
          <p:cNvSpPr/>
          <p:nvPr/>
        </p:nvSpPr>
        <p:spPr>
          <a:xfrm>
            <a:off x="914400" y="3895344"/>
            <a:ext cx="420624" cy="420624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1" name="Step 3 title"/>
          <p:cNvSpPr txBox="1"/>
          <p:nvPr/>
        </p:nvSpPr>
        <p:spPr>
          <a:xfrm>
            <a:off x="1554480" y="387705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Open the app</a:t>
            </a:r>
          </a:p>
        </p:txBody>
      </p:sp>
      <p:sp>
        <p:nvSpPr>
          <p:cNvPr id="12" name="Step 3 text"/>
          <p:cNvSpPr txBox="1"/>
          <p:nvPr/>
        </p:nvSpPr>
        <p:spPr>
          <a:xfrm>
            <a:off x="1554480" y="4261104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http://127.0.0.1:8000 opens automatically</a:t>
            </a:r>
          </a:p>
        </p:txBody>
      </p:sp>
      <p:sp>
        <p:nvSpPr>
          <p:cNvPr id="13" name="Step 4 number"/>
          <p:cNvSpPr/>
          <p:nvPr/>
        </p:nvSpPr>
        <p:spPr>
          <a:xfrm>
            <a:off x="914400" y="4919472"/>
            <a:ext cx="420624" cy="420624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14" name="Step 4 title"/>
          <p:cNvSpPr txBox="1"/>
          <p:nvPr/>
        </p:nvSpPr>
        <p:spPr>
          <a:xfrm>
            <a:off x="1554480" y="490118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Update once</a:t>
            </a:r>
          </a:p>
        </p:txBody>
      </p:sp>
      <p:sp>
        <p:nvSpPr>
          <p:cNvPr id="15" name="Step 4 text"/>
          <p:cNvSpPr txBox="1"/>
          <p:nvPr/>
        </p:nvSpPr>
        <p:spPr>
          <a:xfrm>
            <a:off x="1554480" y="528523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29AA5"/>
                </a:solidFill>
                <a:latin typeface="Arial"/>
              </a:rPr>
              <a:t>Select Update Data &amp; Retrain. It needs internet, takes a couple of minutes, then works offline</a:t>
            </a:r>
          </a:p>
        </p:txBody>
      </p:sp>
      <p:sp>
        <p:nvSpPr>
          <p:cNvPr id="16" name="Code card"/>
          <p:cNvSpPr/>
          <p:nvPr/>
        </p:nvSpPr>
        <p:spPr>
          <a:xfrm>
            <a:off x="6583680" y="1554480"/>
            <a:ext cx="4983480" cy="1828800"/>
          </a:xfrm>
          <a:prstGeom prst="roundRect">
            <a:avLst>
              <a:gd name="adj" fmla="val 11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mmands"/>
          <p:cNvSpPr txBox="1"/>
          <p:nvPr/>
        </p:nvSpPr>
        <p:spPr>
          <a:xfrm>
            <a:off x="6858000" y="1783080"/>
            <a:ext cx="4480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48D9A"/>
                </a:solidFill>
                <a:latin typeface="Consolas"/>
              </a:rPr>
              <a:t>$ </a:t>
            </a:r>
            <a:r>
              <a:rPr sz="1500" b="0">
                <a:solidFill>
                  <a:srgbClr val="0ECB81"/>
                </a:solidFill>
                <a:latin typeface="Consolas"/>
              </a:rPr>
              <a:t>pip install -r requirements.txt</a:t>
            </a:r>
          </a:p>
          <a:p>
            <a:pPr algn="l"/>
            <a:r>
              <a:rPr sz="1500" b="0">
                <a:solidFill>
                  <a:srgbClr val="848D9A"/>
                </a:solidFill>
                <a:latin typeface="Consolas"/>
              </a:rPr>
              <a:t>$ </a:t>
            </a:r>
            <a:r>
              <a:rPr sz="1500" b="0">
                <a:solidFill>
                  <a:srgbClr val="0ECB81"/>
                </a:solidFill>
                <a:latin typeface="Consolas"/>
              </a:rPr>
              <a:t>python server.py</a:t>
            </a:r>
          </a:p>
          <a:p>
            <a:pPr algn="l"/>
            <a:r>
              <a:rPr sz="1500" b="0">
                <a:solidFill>
                  <a:srgbClr val="0ECB81"/>
                </a:solidFill>
                <a:latin typeface="Consolas"/>
              </a:rPr>
              <a:t/>
            </a:r>
          </a:p>
          <a:p>
            <a:pPr algn="l"/>
            <a:r>
              <a:rPr sz="1500" b="0">
                <a:solidFill>
                  <a:srgbClr val="848D9A"/>
                </a:solidFill>
                <a:latin typeface="Consolas"/>
              </a:rPr>
              <a:t># open http://127.0.0.1:8000</a:t>
            </a:r>
          </a:p>
        </p:txBody>
      </p:sp>
      <p:sp>
        <p:nvSpPr>
          <p:cNvPr id="18" name="Pages card"/>
          <p:cNvSpPr/>
          <p:nvPr/>
        </p:nvSpPr>
        <p:spPr>
          <a:xfrm>
            <a:off x="6583680" y="3611880"/>
            <a:ext cx="4983480" cy="2423160"/>
          </a:xfrm>
          <a:prstGeom prst="roundRect">
            <a:avLst>
              <a:gd name="adj" fmla="val 8301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ges title"/>
          <p:cNvSpPr txBox="1"/>
          <p:nvPr/>
        </p:nvSpPr>
        <p:spPr>
          <a:xfrm>
            <a:off x="6858000" y="38862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Pages</a:t>
            </a:r>
          </a:p>
        </p:txBody>
      </p:sp>
      <p:sp>
        <p:nvSpPr>
          <p:cNvPr id="20" name="Pages list"/>
          <p:cNvSpPr txBox="1"/>
          <p:nvPr/>
        </p:nvSpPr>
        <p:spPr>
          <a:xfrm>
            <a:off x="6858000" y="4389120"/>
            <a:ext cx="4480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Home  </a:t>
            </a:r>
            <a:r>
              <a:rPr sz="1300" b="0">
                <a:solidFill>
                  <a:srgbClr val="929AA5"/>
                </a:solidFill>
                <a:latin typeface="Arial"/>
              </a:rPr>
              <a:t>loading screen and landing page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Markets  </a:t>
            </a:r>
            <a:r>
              <a:rPr sz="1300" b="0">
                <a:solidFill>
                  <a:srgbClr val="929AA5"/>
                </a:solidFill>
                <a:latin typeface="Arial"/>
              </a:rPr>
              <a:t>watchlist and stock pages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Macro  </a:t>
            </a:r>
            <a:r>
              <a:rPr sz="1300" b="0">
                <a:solidFill>
                  <a:srgbClr val="929AA5"/>
                </a:solidFill>
                <a:latin typeface="Arial"/>
              </a:rPr>
              <a:t>rates and credit conditions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 Report  </a:t>
            </a:r>
            <a:r>
              <a:rPr sz="1300" b="0">
                <a:solidFill>
                  <a:srgbClr val="929AA5"/>
                </a:solidFill>
                <a:latin typeface="Arial"/>
              </a:rPr>
              <a:t>the honest scorecard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8D9A"/>
                </a:solidFill>
                <a:latin typeface="Arial"/>
              </a:rPr>
              <a:t>AI Stock Predictor  ·  Experimental, not financial advice</a:t>
            </a:r>
          </a:p>
        </p:txBody>
      </p:sp>
      <p:sp>
        <p:nvSpPr>
          <p:cNvPr id="22" name="Slide number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48D9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3" name="Achieved card"/>
          <p:cNvSpPr/>
          <p:nvPr/>
        </p:nvSpPr>
        <p:spPr>
          <a:xfrm>
            <a:off x="640080" y="1554480"/>
            <a:ext cx="5394960" cy="3657600"/>
          </a:xfrm>
          <a:prstGeom prst="roundRect">
            <a:avLst>
              <a:gd name="adj" fmla="val 55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hieved title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What we achieved</a:t>
            </a:r>
          </a:p>
        </p:txBody>
      </p:sp>
      <p:sp>
        <p:nvSpPr>
          <p:cNvPr id="5" name="Achieved list"/>
          <p:cNvSpPr txBox="1"/>
          <p:nvPr/>
        </p:nvSpPr>
        <p:spPr>
          <a:xfrm>
            <a:off x="960120" y="242316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AECEF"/>
                </a:solidFill>
                <a:latin typeface="Arial"/>
              </a:rPr>
              <a:t>A complete local web app covering 499 S&amp;P 500 stocks.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AECEF"/>
                </a:solidFill>
                <a:latin typeface="Arial"/>
              </a:rPr>
              <a:t>A risk forecast with measurable skill, scored against a baseline.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AECEF"/>
                </a:solidFill>
                <a:latin typeface="Arial"/>
              </a:rPr>
              <a:t>A model report that says plainly when there is no edge.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AECEF"/>
                </a:solidFill>
                <a:latin typeface="Arial"/>
              </a:rPr>
              <a:t>Free data only, and no paid services or API keys.</a:t>
            </a:r>
          </a:p>
        </p:txBody>
      </p:sp>
      <p:sp>
        <p:nvSpPr>
          <p:cNvPr id="6" name="Learned card"/>
          <p:cNvSpPr/>
          <p:nvPr/>
        </p:nvSpPr>
        <p:spPr>
          <a:xfrm>
            <a:off x="6263640" y="1554480"/>
            <a:ext cx="5303520" cy="3657600"/>
          </a:xfrm>
          <a:prstGeom prst="roundRect">
            <a:avLst>
              <a:gd name="adj" fmla="val 55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arned title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What we learned</a:t>
            </a:r>
          </a:p>
        </p:txBody>
      </p:sp>
      <p:sp>
        <p:nvSpPr>
          <p:cNvPr id="8" name="Learned list"/>
          <p:cNvSpPr txBox="1"/>
          <p:nvPr/>
        </p:nvSpPr>
        <p:spPr>
          <a:xfrm>
            <a:off x="6583680" y="242316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AECEF"/>
                </a:solidFill>
                <a:latin typeface="Arial"/>
              </a:rPr>
              <a:t>Daily stock returns are close to unpredictable with price data alone.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AECEF"/>
                </a:solidFill>
                <a:latin typeface="Arial"/>
              </a:rPr>
              <a:t>Volatility is forecastable, mostly because it persists.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AECEF"/>
                </a:solidFill>
                <a:latin typeface="Arial"/>
              </a:rPr>
              <a:t>Honest scoring against simple baselines is what makes a model trustworthy.</a:t>
            </a:r>
          </a:p>
        </p:txBody>
      </p:sp>
      <p:sp>
        <p:nvSpPr>
          <p:cNvPr id="9" name="Closing line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5B8CFF"/>
                </a:solidFill>
                <a:latin typeface="Arial"/>
              </a:rPr>
              <a:t>The most useful feature is the one that tells you when not to trust the model.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8D9A"/>
                </a:solidFill>
                <a:latin typeface="Arial"/>
              </a:rPr>
              <a:t>AI Stock Predictor  ·  Experimental, not financial advice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48D9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